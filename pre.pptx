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embeddedFontLst>
    <p:embeddedFont>
      <p:font typeface="Lato" panose="020F0502020204030203" pitchFamily="34" charset="0"/>
      <p:regular r:id="rId11"/>
      <p:bold r:id="rId12"/>
      <p:italic r:id="rId13"/>
      <p:boldItalic r:id="rId14"/>
    </p:embeddedFont>
    <p:embeddedFont>
      <p:font typeface="Poppins" panose="00000500000000000000" pitchFamily="2" charset="0"/>
      <p:regular r:id="rId15"/>
      <p:bold r:id="rId16"/>
      <p:italic r:id="rId17"/>
      <p:boldItalic r:id="rId18"/>
    </p:embeddedFont>
    <p:embeddedFont>
      <p:font typeface="Poppins SemiBold" panose="000007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78" y="6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" name="Google Shape;13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1695450" y="2603152"/>
            <a:ext cx="88011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00A862"/>
                </a:solidFill>
                <a:latin typeface="Poppins"/>
                <a:ea typeface="Poppins"/>
                <a:cs typeface="Poppins"/>
                <a:sym typeface="Poppins"/>
              </a:rPr>
              <a:t>Starbucks API </a:t>
            </a:r>
            <a:r>
              <a:rPr lang="en-US" altLang="zh-CN" sz="4800" b="1" i="0" u="none" strike="noStrike" cap="none" dirty="0">
                <a:solidFill>
                  <a:srgbClr val="00A862"/>
                </a:solidFill>
                <a:latin typeface="Poppins"/>
                <a:ea typeface="Poppins"/>
                <a:cs typeface="Poppins"/>
                <a:sym typeface="Poppins"/>
              </a:rPr>
              <a:t>Presentation</a:t>
            </a:r>
            <a:endParaRPr lang="en-US" dirty="0"/>
          </a:p>
        </p:txBody>
      </p:sp>
      <p:sp>
        <p:nvSpPr>
          <p:cNvPr id="85" name="Google Shape;85;p13"/>
          <p:cNvSpPr txBox="1"/>
          <p:nvPr/>
        </p:nvSpPr>
        <p:spPr>
          <a:xfrm>
            <a:off x="1905000" y="3698527"/>
            <a:ext cx="8382000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Lato"/>
                <a:ea typeface="Lato"/>
                <a:cs typeface="Lato"/>
                <a:sym typeface="Lato"/>
              </a:rPr>
              <a:t>Zhu Yunhao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600200"/>
            <a:ext cx="342900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81500" y="1600200"/>
            <a:ext cx="3429000" cy="4676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1600200"/>
            <a:ext cx="3429000" cy="4676775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>
            <a:off x="962025" y="2724150"/>
            <a:ext cx="2780347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Framework &amp; Tech Stack</a:t>
            </a:r>
            <a:endParaRPr/>
          </a:p>
        </p:txBody>
      </p:sp>
      <p:sp>
        <p:nvSpPr>
          <p:cNvPr id="94" name="Google Shape;94;p14"/>
          <p:cNvSpPr txBox="1"/>
          <p:nvPr/>
        </p:nvSpPr>
        <p:spPr>
          <a:xfrm>
            <a:off x="962025" y="3609975"/>
            <a:ext cx="264795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The system utilizes a 3-tier architecture built on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Django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and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Django REST Framework (DRF)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. This ensures rapid development, robust Object-Relational Mapping (ORM), and efficient JSON serialization.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4772025" y="2724150"/>
            <a:ext cx="2780347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Live Cloud Deployment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4772025" y="3609975"/>
            <a:ext cx="264795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Successfully migrated from local development to a live production environment hosted on </a:t>
            </a: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PythonAnywhere.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8582025" y="2724150"/>
            <a:ext cx="219027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Data Processing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582025" y="3238500"/>
            <a:ext cx="264795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Developed robust Python scripts to clean and parse inherently unstructured Kaggle datasets, safely mapping complex nutritional metrics into the underlying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SQLite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database.</a:t>
            </a:r>
            <a:endParaRPr/>
          </a:p>
        </p:txBody>
      </p:sp>
      <p:pic>
        <p:nvPicPr>
          <p:cNvPr id="99" name="Google Shape;99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62025" y="2038350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72025" y="2038350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582025" y="2038350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1. Technical Report Highlights (Architecture)</a:t>
            </a:r>
            <a:endParaRPr/>
          </a:p>
        </p:txBody>
      </p:sp>
      <p:sp>
        <p:nvSpPr>
          <p:cNvPr id="103" name="Google Shape;103;p14"/>
          <p:cNvSpPr/>
          <p:nvPr/>
        </p:nvSpPr>
        <p:spPr>
          <a:xfrm>
            <a:off x="571500" y="1228725"/>
            <a:ext cx="11049000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/>
        </p:nvSpPr>
        <p:spPr>
          <a:xfrm>
            <a:off x="1047750" y="2347912"/>
            <a:ext cx="90487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RESTful Integrity: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API strictly adheres to REST principles, utilizing predictable resource-oriented URLs and returning semantically accurate HTTP status codes (200, 201, 400, 404).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047750" y="3195637"/>
            <a:ext cx="90487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Create &amp; Read: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Implemented robust POST methods with strict payload validation against serializers, alongside comprehensive GET methods for collection arrays and individual items.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1047750" y="4081462"/>
            <a:ext cx="9048750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Advanced Update Logic: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Programmatically differentiated between full resource replacement (PUT mandates all fields) and partial modification (PATCH allows selective updates).</a:t>
            </a:r>
            <a:endParaRPr lang="en-US"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1047750" y="4967287"/>
            <a:ext cx="90487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F8FAFC"/>
                </a:solidFill>
                <a:latin typeface="Lato"/>
                <a:ea typeface="Lato"/>
                <a:cs typeface="Lato"/>
                <a:sym typeface="Lato"/>
              </a:rPr>
              <a:t>Delete: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Securely removes designated resources via the DELETE method.</a:t>
            </a:r>
            <a:endParaRPr dirty="0"/>
          </a:p>
        </p:txBody>
      </p:sp>
      <p:pic>
        <p:nvPicPr>
          <p:cNvPr id="112" name="Google Shape;112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362200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09925"/>
            <a:ext cx="2381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095750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981575"/>
            <a:ext cx="23812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1. Technical Report Highlights (API Design)</a:t>
            </a:r>
            <a:endParaRPr/>
          </a:p>
        </p:txBody>
      </p:sp>
      <p:sp>
        <p:nvSpPr>
          <p:cNvPr id="117" name="Google Shape;117;p15"/>
          <p:cNvSpPr/>
          <p:nvPr/>
        </p:nvSpPr>
        <p:spPr>
          <a:xfrm>
            <a:off x="571500" y="1228725"/>
            <a:ext cx="11049000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571500" y="571500"/>
            <a:ext cx="5550693" cy="1114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2. Version Control &amp; Commit History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571500" y="1771650"/>
            <a:ext cx="5286375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571500" y="1990725"/>
            <a:ext cx="555069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Git &amp; GitHub Practices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571500" y="2505075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Version control was integral to maintaining code integrity and tracking project milestones throughout the development lifecycle.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857250" y="3745110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Continuous Integration: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project is fully hosted on GitHub, ensuring codebase security and accessibility.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857250" y="4802385"/>
            <a:ext cx="500062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Frequent Commits: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Code was pushed regularly to reflect iterative development phases rather than a single monolithic upload.</a:t>
            </a:r>
            <a:endParaRPr dirty="0"/>
          </a:p>
        </p:txBody>
      </p:sp>
      <p:sp>
        <p:nvSpPr>
          <p:cNvPr id="130" name="Google Shape;130;p16"/>
          <p:cNvSpPr txBox="1"/>
          <p:nvPr/>
        </p:nvSpPr>
        <p:spPr>
          <a:xfrm>
            <a:off x="571500" y="3668910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4710078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F4162F1-3EDC-F683-E2FA-328C6A32FC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35" y="571500"/>
            <a:ext cx="5773001" cy="23833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6A2301E-8FBF-A7F8-62BC-C29F4B6FF9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835" y="3378125"/>
            <a:ext cx="5773001" cy="31211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804987"/>
            <a:ext cx="528637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7"/>
          <p:cNvSpPr txBox="1"/>
          <p:nvPr/>
        </p:nvSpPr>
        <p:spPr>
          <a:xfrm>
            <a:off x="571500" y="1804987"/>
            <a:ext cx="52863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Comprehensive API specifications were generated to provide clear endpoint definitions, payload requirements, and request/response examples.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1095375" y="4367214"/>
            <a:ext cx="476250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altLang="zh-CN" sz="1500" b="1" dirty="0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 </a:t>
            </a:r>
            <a:r>
              <a:rPr lang="en-US" altLang="zh-CN" sz="1500" b="1" dirty="0" err="1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ReDoc</a:t>
            </a:r>
            <a:r>
              <a:rPr lang="en-US" altLang="zh-CN" sz="1500" b="1" dirty="0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Swagger UI</a:t>
            </a:r>
            <a:r>
              <a:rPr lang="en-US" altLang="zh-CN" sz="1500" dirty="0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The API features dynamically generated, interactive documentation. While </a:t>
            </a:r>
            <a:r>
              <a:rPr lang="en-US" altLang="zh-CN" sz="1500" dirty="0" err="1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ReDoc</a:t>
            </a:r>
            <a:r>
              <a:rPr lang="en-US" altLang="zh-CN" sz="1500" dirty="0">
                <a:solidFill>
                  <a:srgbClr val="CBD5E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serves as the primary clean, organized interface for data models, Swagger UI is also provided to allow developers to explore and test endpoints directly via the cloud URL.</a:t>
            </a:r>
            <a:endParaRPr sz="1500" dirty="0">
              <a:solidFill>
                <a:srgbClr val="CBD5E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3" name="Google Shape;143;p17"/>
          <p:cNvSpPr txBox="1"/>
          <p:nvPr/>
        </p:nvSpPr>
        <p:spPr>
          <a:xfrm>
            <a:off x="809625" y="2786062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809625" y="4138614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3. API Documentation Overview</a:t>
            </a: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571500" y="1228725"/>
            <a:ext cx="11049000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A0A9330-BED9-9179-5042-26BA95CE24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5118" y="1804987"/>
            <a:ext cx="5004387" cy="4463913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A108226F-12E9-B4D6-4EBE-FB665B948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1550" y="2948240"/>
            <a:ext cx="5124450" cy="15234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zh-CN" sz="1500" b="1" dirty="0">
                <a:solidFill>
                  <a:srgbClr val="CBD5E1"/>
                </a:solidFill>
                <a:latin typeface="Lato"/>
                <a:cs typeface="Lato"/>
              </a:rPr>
              <a:t>Systematic Testing via Postman</a:t>
            </a:r>
            <a:r>
              <a:rPr lang="zh-CN" altLang="zh-CN" sz="1500" dirty="0">
                <a:solidFill>
                  <a:srgbClr val="CBD5E1"/>
                </a:solidFill>
                <a:latin typeface="Lato"/>
                <a:cs typeface="Lato"/>
              </a:rPr>
              <a:t>: Engineered a complete test suite to rigorously validate all CRUD endpoints. This simulated the full client-server lifecycle, ensuring that every request (from creation to deletion) returns accurate data and correct HTTP status codes.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8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4. All Deliverables Overview</a:t>
            </a:r>
            <a:endParaRPr/>
          </a:p>
        </p:txBody>
      </p:sp>
      <p:sp>
        <p:nvSpPr>
          <p:cNvPr id="153" name="Google Shape;153;p18"/>
          <p:cNvSpPr/>
          <p:nvPr/>
        </p:nvSpPr>
        <p:spPr>
          <a:xfrm>
            <a:off x="571500" y="1228725"/>
            <a:ext cx="5286375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8"/>
          <p:cNvSpPr txBox="1"/>
          <p:nvPr/>
        </p:nvSpPr>
        <p:spPr>
          <a:xfrm>
            <a:off x="571500" y="1447800"/>
            <a:ext cx="5550693" cy="371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Final Submission Checklist</a:t>
            </a:r>
            <a:endParaRPr/>
          </a:p>
        </p:txBody>
      </p:sp>
      <p:sp>
        <p:nvSpPr>
          <p:cNvPr id="156" name="Google Shape;156;p18"/>
          <p:cNvSpPr txBox="1"/>
          <p:nvPr/>
        </p:nvSpPr>
        <p:spPr>
          <a:xfrm>
            <a:off x="571500" y="1962150"/>
            <a:ext cx="5286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All required project components have been successfully completed, verified, and packaged for final evaluation:</a:t>
            </a:r>
            <a:endParaRPr/>
          </a:p>
        </p:txBody>
      </p:sp>
      <p:sp>
        <p:nvSpPr>
          <p:cNvPr id="157" name="Google Shape;157;p18"/>
          <p:cNvSpPr txBox="1"/>
          <p:nvPr/>
        </p:nvSpPr>
        <p:spPr>
          <a:xfrm>
            <a:off x="857250" y="2992635"/>
            <a:ext cx="5000625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60000"/>
              </a:lnSpc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Code Repository: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Complete Django source code hosted on GitHub, including the data import scripts and SQLite database.</a:t>
            </a:r>
            <a:r>
              <a:rPr lang="en-US" sz="1500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https://github.com/planeboom/XJCO3011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857250" y="4049910"/>
            <a:ext cx="5000625" cy="628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API Docs: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Interactive documentation running live on the cloud, plus the static API_Documentation.pdf.</a:t>
            </a:r>
            <a:endParaRPr/>
          </a:p>
        </p:txBody>
      </p:sp>
      <p:sp>
        <p:nvSpPr>
          <p:cNvPr id="159" name="Google Shape;159;p18"/>
          <p:cNvSpPr txBox="1"/>
          <p:nvPr/>
        </p:nvSpPr>
        <p:spPr>
          <a:xfrm>
            <a:off x="857250" y="4821435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Technical Report: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The 5-page PDF report detailing architecture, design choices, and deployment strategies.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857250" y="5573910"/>
            <a:ext cx="500062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Live Deployment: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Fully functional API hosted on PythonAnywhere.</a:t>
            </a:r>
            <a:endParaRPr/>
          </a:p>
        </p:txBody>
      </p:sp>
      <p:pic>
        <p:nvPicPr>
          <p:cNvPr id="161" name="Google Shape;161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3100451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40387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926210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2803" y="5678685"/>
            <a:ext cx="17145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524EF76-9D5C-E3A1-8950-6157FCC5D9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7" y="383836"/>
            <a:ext cx="3945752" cy="442434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808D1010-45AD-88C9-467D-7B89D785DF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2175" y="4951058"/>
            <a:ext cx="5188226" cy="17556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857375"/>
            <a:ext cx="5286375" cy="4162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857375"/>
            <a:ext cx="5286375" cy="4162425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962025" y="2247900"/>
            <a:ext cx="4730591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>
                <a:solidFill>
                  <a:srgbClr val="00A86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Assisted Tasks</a:t>
            </a:r>
            <a:endParaRPr dirty="0"/>
          </a:p>
        </p:txBody>
      </p:sp>
      <p:sp>
        <p:nvSpPr>
          <p:cNvPr id="172" name="Google Shape;172;p19"/>
          <p:cNvSpPr txBox="1"/>
          <p:nvPr/>
        </p:nvSpPr>
        <p:spPr>
          <a:xfrm>
            <a:off x="6724650" y="2247900"/>
            <a:ext cx="4730591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 dirty="0">
                <a:solidFill>
                  <a:srgbClr val="00A862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Original Work</a:t>
            </a:r>
            <a:endParaRPr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1485900" y="2762250"/>
            <a:ext cx="398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Initial Research: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Surveyed Kaggle for suitable datasets.</a:t>
            </a:r>
            <a:endParaRPr/>
          </a:p>
        </p:txBody>
      </p:sp>
      <p:sp>
        <p:nvSpPr>
          <p:cNvPr id="174" name="Google Shape;174;p19"/>
          <p:cNvSpPr txBox="1"/>
          <p:nvPr/>
        </p:nvSpPr>
        <p:spPr>
          <a:xfrm>
            <a:off x="1485900" y="3514725"/>
            <a:ext cx="3981450" cy="933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Scripting: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Assisted with the try-except boilerplate to safely parse the irregular CSV data.</a:t>
            </a:r>
            <a:endParaRPr/>
          </a:p>
        </p:txBody>
      </p:sp>
      <p:sp>
        <p:nvSpPr>
          <p:cNvPr id="175" name="Google Shape;175;p19"/>
          <p:cNvSpPr txBox="1"/>
          <p:nvPr/>
        </p:nvSpPr>
        <p:spPr>
          <a:xfrm>
            <a:off x="1485900" y="4591050"/>
            <a:ext cx="398145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Debugging: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Analyzed Django 500 error logs to resolve production static file routing issues.</a:t>
            </a:r>
            <a:endParaRPr/>
          </a:p>
        </p:txBody>
      </p:sp>
      <p:sp>
        <p:nvSpPr>
          <p:cNvPr id="176" name="Google Shape;176;p19"/>
          <p:cNvSpPr txBox="1"/>
          <p:nvPr/>
        </p:nvSpPr>
        <p:spPr>
          <a:xfrm>
            <a:off x="7248525" y="2762250"/>
            <a:ext cx="39814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Architecture &amp; APIs: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Independent selection of the DRF framework and design of all RESTful endpoint logic.</a:t>
            </a:r>
            <a:endParaRPr dirty="0"/>
          </a:p>
        </p:txBody>
      </p:sp>
      <p:sp>
        <p:nvSpPr>
          <p:cNvPr id="177" name="Google Shape;177;p19"/>
          <p:cNvSpPr txBox="1"/>
          <p:nvPr/>
        </p:nvSpPr>
        <p:spPr>
          <a:xfrm>
            <a:off x="7248525" y="4133850"/>
            <a:ext cx="39814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Deployment:</a:t>
            </a:r>
            <a:r>
              <a:rPr lang="en-US" sz="1500" b="0" i="0" u="none" strike="noStrike" cap="none" dirty="0">
                <a:solidFill>
                  <a:srgbClr val="CBD5E1"/>
                </a:solidFill>
                <a:latin typeface="Lato"/>
                <a:ea typeface="Lato"/>
                <a:cs typeface="Lato"/>
                <a:sym typeface="Lato"/>
              </a:rPr>
              <a:t> Manual configuration of the PythonAnywhere server and execution of the Postman testing suites.</a:t>
            </a:r>
            <a:endParaRPr dirty="0"/>
          </a:p>
        </p:txBody>
      </p:sp>
      <p:sp>
        <p:nvSpPr>
          <p:cNvPr id="179" name="Google Shape;179;p19"/>
          <p:cNvSpPr txBox="1"/>
          <p:nvPr/>
        </p:nvSpPr>
        <p:spPr>
          <a:xfrm>
            <a:off x="1200150" y="2686050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1200150" y="3438525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1200150" y="4514850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962775" y="2686050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979547" y="4010026"/>
            <a:ext cx="16192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50" b="0" i="0" u="none" strike="noStrike" cap="none" dirty="0">
                <a:solidFill>
                  <a:srgbClr val="00A862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 dirty="0"/>
          </a:p>
        </p:txBody>
      </p:sp>
      <p:sp>
        <p:nvSpPr>
          <p:cNvPr id="185" name="Google Shape;185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Generative AI Usage Declaration</a:t>
            </a:r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571500" y="1228725"/>
            <a:ext cx="11049000" cy="28575"/>
          </a:xfrm>
          <a:prstGeom prst="rect">
            <a:avLst/>
          </a:prstGeom>
          <a:solidFill>
            <a:srgbClr val="00A86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93B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0"/>
          <p:cNvSpPr txBox="1"/>
          <p:nvPr/>
        </p:nvSpPr>
        <p:spPr>
          <a:xfrm>
            <a:off x="295275" y="1886842"/>
            <a:ext cx="11601450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750" b="1" i="0" u="none" strike="noStrike" cap="none" dirty="0">
                <a:solidFill>
                  <a:srgbClr val="00A862"/>
                </a:solidFill>
                <a:latin typeface="Poppins"/>
                <a:ea typeface="Poppins"/>
                <a:cs typeface="Poppins"/>
                <a:sym typeface="Poppins"/>
              </a:rPr>
              <a:t>Thank you for your listening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572</Words>
  <Application>Microsoft Office PowerPoint</Application>
  <PresentationFormat>宽屏</PresentationFormat>
  <Paragraphs>48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4" baseType="lpstr">
      <vt:lpstr>Lato</vt:lpstr>
      <vt:lpstr>Calibri</vt:lpstr>
      <vt:lpstr>Poppins</vt:lpstr>
      <vt:lpstr>Arial</vt:lpstr>
      <vt:lpstr>Poppins SemiBold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zyh</dc:creator>
  <cp:lastModifiedBy>Yunhao Zhu [sc22y3z]</cp:lastModifiedBy>
  <cp:revision>3</cp:revision>
  <dcterms:modified xsi:type="dcterms:W3CDTF">2026-04-20T14:18:19Z</dcterms:modified>
</cp:coreProperties>
</file>